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Now Bold" charset="1" panose="00000800000000000000"/>
      <p:regular r:id="rId7"/>
    </p:embeddedFont>
    <p:embeddedFont>
      <p:font typeface="Aileron" charset="1" panose="00000500000000000000"/>
      <p:regular r:id="rId8"/>
    </p:embeddedFont>
    <p:embeddedFont>
      <p:font typeface="Aileron Bold" charset="1" panose="00000800000000000000"/>
      <p:regular r:id="rId9"/>
    </p:embeddedFont>
    <p:embeddedFont>
      <p:font typeface="Lato" charset="1" panose="020F0502020204030203"/>
      <p:regular r:id="rId10"/>
    </p:embeddedFont>
    <p:embeddedFont>
      <p:font typeface="Now Heavy" charset="1" panose="00000A00000000000000"/>
      <p:regular r:id="rId11"/>
    </p:embeddedFont>
    <p:embeddedFont>
      <p:font typeface="Now" charset="1" panose="00000500000000000000"/>
      <p:regular r:id="rId12"/>
    </p:embeddedFont>
    <p:embeddedFont>
      <p:font typeface="Lato Bold" charset="1" panose="020F0502020204030203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mailto:zane.ferns360@gmail.com" TargetMode="External" Type="http://schemas.openxmlformats.org/officeDocument/2006/relationships/hyperlink"/><Relationship Id="rId11" Target="mailto:zane.ferns360@gmail.com" TargetMode="External" Type="http://schemas.openxmlformats.org/officeDocument/2006/relationships/hyperlink"/><Relationship Id="rId12" Target="https://aur.archlinux.org/packages?K=ZaneFerns360&amp;SeB=m" TargetMode="External" Type="http://schemas.openxmlformats.org/officeDocument/2006/relationships/hyperlink"/><Relationship Id="rId13" Target="https://github.com/ZaneFerns360/acer-predator-v4-mode-and-rgb-keyboard-linux-module.git" TargetMode="External" Type="http://schemas.openxmlformats.org/officeDocument/2006/relationships/hyperlink"/><Relationship Id="rId14" Target="mailto:zane.ferns360@gmail.com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https://www.linkedin.com/in/zane-fernandes/" TargetMode="External" Type="http://schemas.openxmlformats.org/officeDocument/2006/relationships/hyperlink"/><Relationship Id="rId7" Target="https://github.com/ZaneFerns360" TargetMode="External" Type="http://schemas.openxmlformats.org/officeDocument/2006/relationships/hyperlink"/><Relationship Id="rId8" Target="../media/image5.jpeg" Type="http://schemas.openxmlformats.org/officeDocument/2006/relationships/image"/><Relationship Id="rId9" Target="mailto:zane.ferns360@gmail.com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38" y="0"/>
            <a:ext cx="7370435" cy="10920584"/>
          </a:xfrm>
          <a:custGeom>
            <a:avLst/>
            <a:gdLst/>
            <a:ahLst/>
            <a:cxnLst/>
            <a:rect r="r" b="b" t="t" l="l"/>
            <a:pathLst>
              <a:path h="10920584" w="7370435">
                <a:moveTo>
                  <a:pt x="0" y="0"/>
                </a:moveTo>
                <a:lnTo>
                  <a:pt x="7370435" y="0"/>
                </a:lnTo>
                <a:lnTo>
                  <a:pt x="7370435" y="10920584"/>
                </a:lnTo>
                <a:lnTo>
                  <a:pt x="0" y="10920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7865" y="2609735"/>
            <a:ext cx="185809" cy="185809"/>
            <a:chOff x="0" y="0"/>
            <a:chExt cx="266802" cy="26680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66827" cy="266827"/>
            </a:xfrm>
            <a:custGeom>
              <a:avLst/>
              <a:gdLst/>
              <a:ahLst/>
              <a:cxnLst/>
              <a:rect r="r" b="b" t="t" l="l"/>
              <a:pathLst>
                <a:path h="266827" w="266827">
                  <a:moveTo>
                    <a:pt x="0" y="0"/>
                  </a:moveTo>
                  <a:lnTo>
                    <a:pt x="266827" y="0"/>
                  </a:lnTo>
                  <a:lnTo>
                    <a:pt x="266827" y="266827"/>
                  </a:lnTo>
                  <a:lnTo>
                    <a:pt x="0" y="2668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9" b="9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95011" y="2347111"/>
            <a:ext cx="171517" cy="171517"/>
            <a:chOff x="0" y="0"/>
            <a:chExt cx="228689" cy="22868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8727" cy="228727"/>
            </a:xfrm>
            <a:custGeom>
              <a:avLst/>
              <a:gdLst/>
              <a:ahLst/>
              <a:cxnLst/>
              <a:rect r="r" b="b" t="t" l="l"/>
              <a:pathLst>
                <a:path h="228727" w="228727">
                  <a:moveTo>
                    <a:pt x="0" y="0"/>
                  </a:moveTo>
                  <a:lnTo>
                    <a:pt x="228727" y="0"/>
                  </a:lnTo>
                  <a:lnTo>
                    <a:pt x="228727" y="228727"/>
                  </a:lnTo>
                  <a:lnTo>
                    <a:pt x="0" y="228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6" b="1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57311" y="3126257"/>
            <a:ext cx="1688811" cy="82258"/>
            <a:chOff x="0" y="0"/>
            <a:chExt cx="1688808" cy="8225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8842" cy="82295"/>
            </a:xfrm>
            <a:custGeom>
              <a:avLst/>
              <a:gdLst/>
              <a:ahLst/>
              <a:cxnLst/>
              <a:rect r="r" b="b" t="t" l="l"/>
              <a:pathLst>
                <a:path h="82295" w="1688842">
                  <a:moveTo>
                    <a:pt x="0" y="82295"/>
                  </a:moveTo>
                  <a:lnTo>
                    <a:pt x="1688842" y="82295"/>
                  </a:lnTo>
                  <a:lnTo>
                    <a:pt x="168884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97237" y="816302"/>
            <a:ext cx="976246" cy="38100"/>
            <a:chOff x="0" y="0"/>
            <a:chExt cx="976249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6253" cy="38100"/>
            </a:xfrm>
            <a:custGeom>
              <a:avLst/>
              <a:gdLst/>
              <a:ahLst/>
              <a:cxnLst/>
              <a:rect r="r" b="b" t="t" l="l"/>
              <a:pathLst>
                <a:path h="38100" w="976253">
                  <a:moveTo>
                    <a:pt x="0" y="38100"/>
                  </a:moveTo>
                  <a:lnTo>
                    <a:pt x="976253" y="38100"/>
                  </a:lnTo>
                  <a:lnTo>
                    <a:pt x="97625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28261" y="8459676"/>
            <a:ext cx="6936614" cy="240563"/>
            <a:chOff x="0" y="0"/>
            <a:chExt cx="6936621" cy="2405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35365" y="113030"/>
              <a:ext cx="6667842" cy="13843"/>
            </a:xfrm>
            <a:custGeom>
              <a:avLst/>
              <a:gdLst/>
              <a:ahLst/>
              <a:cxnLst/>
              <a:rect r="r" b="b" t="t" l="l"/>
              <a:pathLst>
                <a:path h="13843" w="6667842">
                  <a:moveTo>
                    <a:pt x="0" y="0"/>
                  </a:moveTo>
                  <a:lnTo>
                    <a:pt x="0" y="13843"/>
                  </a:lnTo>
                  <a:lnTo>
                    <a:pt x="6667841" y="13843"/>
                  </a:lnTo>
                  <a:lnTo>
                    <a:pt x="6667841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33496" y="63500"/>
              <a:ext cx="6665439" cy="113538"/>
            </a:xfrm>
            <a:custGeom>
              <a:avLst/>
              <a:gdLst/>
              <a:ahLst/>
              <a:cxnLst/>
              <a:rect r="r" b="b" t="t" l="l"/>
              <a:pathLst>
                <a:path h="113538" w="6665439">
                  <a:moveTo>
                    <a:pt x="0" y="113538"/>
                  </a:moveTo>
                  <a:lnTo>
                    <a:pt x="6665439" y="113538"/>
                  </a:lnTo>
                  <a:lnTo>
                    <a:pt x="666543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900462" y="3713260"/>
            <a:ext cx="2411349" cy="2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TECHNICAL PROJECTS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512581" y="8595296"/>
            <a:ext cx="2877541" cy="2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TO BE FILLED BY TRAINERS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1208" y="6927993"/>
            <a:ext cx="1519638" cy="23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415" spc="168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CERTIFICATES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5520" y="7638527"/>
            <a:ext cx="1705937" cy="23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415" spc="168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ACHIEVEMENTS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21048" y="6207296"/>
            <a:ext cx="3474634" cy="23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b="true" sz="1415" spc="168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PREFERRED AREAS OF INTEREST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2258" y="8864546"/>
            <a:ext cx="1951526" cy="131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4" indent="-106992" lvl="1">
              <a:lnSpc>
                <a:spcPts val="2101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Trainer</a:t>
            </a:r>
          </a:p>
          <a:p>
            <a:pPr algn="l" marL="213984" indent="-106992" lvl="1">
              <a:lnSpc>
                <a:spcPts val="2101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Final Score </a:t>
            </a:r>
          </a:p>
          <a:p>
            <a:pPr algn="l" marL="213984" indent="-106992" lvl="1">
              <a:lnSpc>
                <a:spcPts val="2101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Strength Area </a:t>
            </a:r>
          </a:p>
          <a:p>
            <a:pPr algn="l" marL="213984" indent="-106992" lvl="1">
              <a:lnSpc>
                <a:spcPts val="2101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Area of development </a:t>
            </a:r>
          </a:p>
          <a:p>
            <a:pPr algn="l" marL="213984" indent="-106992" lvl="1">
              <a:lnSpc>
                <a:spcPts val="2101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Recommended line of 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867650" y="7968530"/>
            <a:ext cx="3561495" cy="48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1st Place - Cresc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endo CRCE 2024 Offline Hackathon.</a:t>
            </a:r>
          </a:p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1st Place - Algoholic 1.0 Competitive Coding Contest.</a:t>
            </a:r>
          </a:p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3rd Place - Ingenium 2023 Software Contest.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67650" y="7276408"/>
            <a:ext cx="3467338" cy="32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AWS Acad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emy Cloud Architecting</a:t>
            </a:r>
          </a:p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AWS Academy Microservices and CI/CD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06718" y="3992191"/>
            <a:ext cx="4079664" cy="48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And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roid App For Fire Safety Association of India (FSAI)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Kotlin app deployed on playstore &amp; used by FSAI Officals.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Contained fire safety ratings for over 300 Ganesh Mandals.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312887" y="8766915"/>
            <a:ext cx="3297102" cy="240563"/>
            <a:chOff x="0" y="0"/>
            <a:chExt cx="3297105" cy="24056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4341" y="113030"/>
              <a:ext cx="3169349" cy="13843"/>
            </a:xfrm>
            <a:custGeom>
              <a:avLst/>
              <a:gdLst/>
              <a:ahLst/>
              <a:cxnLst/>
              <a:rect r="r" b="b" t="t" l="l"/>
              <a:pathLst>
                <a:path h="13843" w="3169349">
                  <a:moveTo>
                    <a:pt x="0" y="0"/>
                  </a:moveTo>
                  <a:lnTo>
                    <a:pt x="0" y="13843"/>
                  </a:lnTo>
                  <a:lnTo>
                    <a:pt x="3169350" y="13843"/>
                  </a:lnTo>
                  <a:lnTo>
                    <a:pt x="3169350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63453" y="63500"/>
              <a:ext cx="3168207" cy="113538"/>
            </a:xfrm>
            <a:custGeom>
              <a:avLst/>
              <a:gdLst/>
              <a:ahLst/>
              <a:cxnLst/>
              <a:rect r="r" b="b" t="t" l="l"/>
              <a:pathLst>
                <a:path h="113538" w="3168207">
                  <a:moveTo>
                    <a:pt x="0" y="113538"/>
                  </a:moveTo>
                  <a:lnTo>
                    <a:pt x="3168207" y="113538"/>
                  </a:lnTo>
                  <a:lnTo>
                    <a:pt x="316820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32295" y="7800452"/>
            <a:ext cx="4533950" cy="240563"/>
            <a:chOff x="0" y="0"/>
            <a:chExt cx="4533955" cy="24056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88478" y="113030"/>
              <a:ext cx="4358274" cy="13843"/>
            </a:xfrm>
            <a:custGeom>
              <a:avLst/>
              <a:gdLst/>
              <a:ahLst/>
              <a:cxnLst/>
              <a:rect r="r" b="b" t="t" l="l"/>
              <a:pathLst>
                <a:path h="13843" w="4358274">
                  <a:moveTo>
                    <a:pt x="0" y="0"/>
                  </a:moveTo>
                  <a:lnTo>
                    <a:pt x="0" y="13843"/>
                  </a:lnTo>
                  <a:lnTo>
                    <a:pt x="4358273" y="13843"/>
                  </a:lnTo>
                  <a:lnTo>
                    <a:pt x="4358273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87256" y="63500"/>
              <a:ext cx="4356703" cy="113538"/>
            </a:xfrm>
            <a:custGeom>
              <a:avLst/>
              <a:gdLst/>
              <a:ahLst/>
              <a:cxnLst/>
              <a:rect r="r" b="b" t="t" l="l"/>
              <a:pathLst>
                <a:path h="113538" w="4356703">
                  <a:moveTo>
                    <a:pt x="0" y="113538"/>
                  </a:moveTo>
                  <a:lnTo>
                    <a:pt x="4356703" y="113538"/>
                  </a:lnTo>
                  <a:lnTo>
                    <a:pt x="43567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2778256" y="7097892"/>
            <a:ext cx="4550677" cy="240563"/>
            <a:chOff x="0" y="0"/>
            <a:chExt cx="4550681" cy="240563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88804" y="113030"/>
              <a:ext cx="4374352" cy="13843"/>
            </a:xfrm>
            <a:custGeom>
              <a:avLst/>
              <a:gdLst/>
              <a:ahLst/>
              <a:cxnLst/>
              <a:rect r="r" b="b" t="t" l="l"/>
              <a:pathLst>
                <a:path h="13843" w="4374352">
                  <a:moveTo>
                    <a:pt x="0" y="0"/>
                  </a:moveTo>
                  <a:lnTo>
                    <a:pt x="0" y="13843"/>
                  </a:lnTo>
                  <a:lnTo>
                    <a:pt x="4374352" y="13843"/>
                  </a:lnTo>
                  <a:lnTo>
                    <a:pt x="4374352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87578" y="63500"/>
              <a:ext cx="4372775" cy="113538"/>
            </a:xfrm>
            <a:custGeom>
              <a:avLst/>
              <a:gdLst/>
              <a:ahLst/>
              <a:cxnLst/>
              <a:rect r="r" b="b" t="t" l="l"/>
              <a:pathLst>
                <a:path h="113538" w="4372775">
                  <a:moveTo>
                    <a:pt x="0" y="113538"/>
                  </a:moveTo>
                  <a:lnTo>
                    <a:pt x="4372775" y="113538"/>
                  </a:lnTo>
                  <a:lnTo>
                    <a:pt x="4372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2793784" y="6354328"/>
            <a:ext cx="4550677" cy="240563"/>
            <a:chOff x="0" y="0"/>
            <a:chExt cx="4550681" cy="24056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88804" y="113030"/>
              <a:ext cx="4374352" cy="13843"/>
            </a:xfrm>
            <a:custGeom>
              <a:avLst/>
              <a:gdLst/>
              <a:ahLst/>
              <a:cxnLst/>
              <a:rect r="r" b="b" t="t" l="l"/>
              <a:pathLst>
                <a:path h="13843" w="4374352">
                  <a:moveTo>
                    <a:pt x="0" y="0"/>
                  </a:moveTo>
                  <a:lnTo>
                    <a:pt x="0" y="13843"/>
                  </a:lnTo>
                  <a:lnTo>
                    <a:pt x="4374352" y="13843"/>
                  </a:lnTo>
                  <a:lnTo>
                    <a:pt x="4374352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87578" y="63500"/>
              <a:ext cx="4372775" cy="113538"/>
            </a:xfrm>
            <a:custGeom>
              <a:avLst/>
              <a:gdLst/>
              <a:ahLst/>
              <a:cxnLst/>
              <a:rect r="r" b="b" t="t" l="l"/>
              <a:pathLst>
                <a:path h="113538" w="4372775">
                  <a:moveTo>
                    <a:pt x="0" y="113538"/>
                  </a:moveTo>
                  <a:lnTo>
                    <a:pt x="4372775" y="113538"/>
                  </a:lnTo>
                  <a:lnTo>
                    <a:pt x="43727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793784" y="3851877"/>
            <a:ext cx="4556933" cy="240563"/>
            <a:chOff x="0" y="0"/>
            <a:chExt cx="4556937" cy="24056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88926" y="113030"/>
              <a:ext cx="4380366" cy="13843"/>
            </a:xfrm>
            <a:custGeom>
              <a:avLst/>
              <a:gdLst/>
              <a:ahLst/>
              <a:cxnLst/>
              <a:rect r="r" b="b" t="t" l="l"/>
              <a:pathLst>
                <a:path h="13843" w="4380366">
                  <a:moveTo>
                    <a:pt x="0" y="0"/>
                  </a:moveTo>
                  <a:lnTo>
                    <a:pt x="0" y="13843"/>
                  </a:lnTo>
                  <a:lnTo>
                    <a:pt x="4380366" y="13843"/>
                  </a:lnTo>
                  <a:lnTo>
                    <a:pt x="4380366" y="0"/>
                  </a:lnTo>
                  <a:close/>
                </a:path>
              </a:pathLst>
            </a:custGeom>
            <a:solidFill>
              <a:srgbClr val="16385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87699" y="63500"/>
              <a:ext cx="4378787" cy="113538"/>
            </a:xfrm>
            <a:custGeom>
              <a:avLst/>
              <a:gdLst/>
              <a:ahLst/>
              <a:cxnLst/>
              <a:rect r="r" b="b" t="t" l="l"/>
              <a:pathLst>
                <a:path h="113538" w="4378787">
                  <a:moveTo>
                    <a:pt x="0" y="113538"/>
                  </a:moveTo>
                  <a:lnTo>
                    <a:pt x="4378787" y="113538"/>
                  </a:lnTo>
                  <a:lnTo>
                    <a:pt x="437878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5975185" y="2284114"/>
            <a:ext cx="1206341" cy="1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7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May 2024 - July 2024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982712" y="2274046"/>
            <a:ext cx="2890414" cy="384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8"/>
              </a:lnSpc>
            </a:pPr>
            <a:r>
              <a:rPr lang="en-US" b="true" sz="1090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Xircls (Mark</a:t>
            </a:r>
            <a:r>
              <a:rPr lang="en-US" b="true" sz="1090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eting Firm)</a:t>
            </a:r>
          </a:p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Backend Intern (On-Site)</a:t>
            </a:r>
            <a:r>
              <a:rPr lang="en-US" b="true" sz="1090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65402" y="2255969"/>
            <a:ext cx="2251777" cy="53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991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6" tooltip="https://www.linkedin.com/in/zane-fernandes/"/>
              </a:rPr>
              <a:t>Linkedin profile</a:t>
            </a:r>
          </a:p>
          <a:p>
            <a:pPr algn="l">
              <a:lnSpc>
                <a:spcPts val="2265"/>
              </a:lnSpc>
            </a:pPr>
            <a:r>
              <a:rPr lang="en-US" sz="991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7" tooltip="https://github.com/ZaneFerns360"/>
              </a:rPr>
              <a:t>github.com/ZaneFerns360</a:t>
            </a:r>
          </a:p>
        </p:txBody>
      </p:sp>
      <p:sp>
        <p:nvSpPr>
          <p:cNvPr name="AutoShape 41" id="41"/>
          <p:cNvSpPr/>
          <p:nvPr/>
        </p:nvSpPr>
        <p:spPr>
          <a:xfrm>
            <a:off x="2793784" y="1093831"/>
            <a:ext cx="0" cy="7365845"/>
          </a:xfrm>
          <a:prstGeom prst="line">
            <a:avLst/>
          </a:prstGeom>
          <a:ln cap="flat" w="9525">
            <a:solidFill>
              <a:srgbClr val="000000"/>
            </a:solidFill>
            <a:prstDash val="lgDash"/>
            <a:headEnd type="none" len="sm" w="sm"/>
            <a:tailEnd type="none" len="sm" w="sm"/>
          </a:ln>
        </p:spPr>
      </p:sp>
      <p:grpSp>
        <p:nvGrpSpPr>
          <p:cNvPr name="Group 42" id="42"/>
          <p:cNvGrpSpPr/>
          <p:nvPr/>
        </p:nvGrpSpPr>
        <p:grpSpPr>
          <a:xfrm rot="0">
            <a:off x="780769" y="87834"/>
            <a:ext cx="860682" cy="860682"/>
            <a:chOff x="0" y="0"/>
            <a:chExt cx="13716000" cy="13716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716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716000">
                  <a:moveTo>
                    <a:pt x="6858000" y="0"/>
                  </a:moveTo>
                  <a:cubicBezTo>
                    <a:pt x="3070431" y="0"/>
                    <a:pt x="0" y="3070431"/>
                    <a:pt x="0" y="6858000"/>
                  </a:cubicBezTo>
                  <a:cubicBezTo>
                    <a:pt x="0" y="10645569"/>
                    <a:pt x="3070431" y="13716000"/>
                    <a:pt x="6858000" y="13716000"/>
                  </a:cubicBezTo>
                  <a:cubicBezTo>
                    <a:pt x="10645569" y="13716000"/>
                    <a:pt x="13716000" y="10645569"/>
                    <a:pt x="13716000" y="6858000"/>
                  </a:cubicBezTo>
                  <a:cubicBezTo>
                    <a:pt x="13716000" y="3070431"/>
                    <a:pt x="10645569" y="0"/>
                    <a:pt x="68580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16666" r="0" b="-16666"/>
              </a:stretch>
            </a:blip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670674" y="6510738"/>
            <a:ext cx="937460" cy="2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HOBBIES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95011" y="1230872"/>
            <a:ext cx="1041559" cy="236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CONTACT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70674" y="3016196"/>
            <a:ext cx="1332567" cy="240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TECH SKILLS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57311" y="4952342"/>
            <a:ext cx="1433979" cy="62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3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LOCATION PREFERENCE </a:t>
            </a:r>
          </a:p>
          <a:p>
            <a:pPr algn="l">
              <a:lnSpc>
                <a:spcPts val="1054"/>
              </a:lnSpc>
            </a:pPr>
          </a:p>
        </p:txBody>
      </p:sp>
      <p:sp>
        <p:nvSpPr>
          <p:cNvPr name="TextBox 48" id="48"/>
          <p:cNvSpPr txBox="true"/>
          <p:nvPr/>
        </p:nvSpPr>
        <p:spPr>
          <a:xfrm rot="0">
            <a:off x="2921048" y="1026146"/>
            <a:ext cx="4369373" cy="12030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EDUCATION </a:t>
            </a:r>
          </a:p>
          <a:p>
            <a:pPr algn="l">
              <a:lnSpc>
                <a:spcPts val="1486"/>
              </a:lnSpc>
            </a:pPr>
            <a:r>
              <a:rPr lang="en-US" b="true" sz="1090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Computer Engineering - Fr.Conceicao Rodrigues, Bandra (2026)</a:t>
            </a:r>
          </a:p>
          <a:p>
            <a:pPr algn="l">
              <a:lnSpc>
                <a:spcPts val="1486"/>
              </a:lnSpc>
            </a:pPr>
            <a:r>
              <a:rPr lang="en-US" b="true" sz="1090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CGPA - 8.4</a:t>
            </a:r>
          </a:p>
          <a:p>
            <a:pPr algn="l">
              <a:lnSpc>
                <a:spcPts val="1486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12th - KES College - 88.6% (2022)</a:t>
            </a:r>
          </a:p>
          <a:p>
            <a:pPr algn="l">
              <a:lnSpc>
                <a:spcPts val="1486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10th - Beacon High ICSE - 93.3% (2020)</a:t>
            </a:r>
          </a:p>
          <a:p>
            <a:pPr algn="l">
              <a:lnSpc>
                <a:spcPts val="1942"/>
              </a:lnSpc>
            </a:pPr>
            <a:r>
              <a:rPr lang="en-US" b="true" sz="1387" spc="165">
                <a:solidFill>
                  <a:srgbClr val="1C2120"/>
                </a:solidFill>
                <a:latin typeface="Now Bold"/>
                <a:ea typeface="Now Bold"/>
                <a:cs typeface="Now Bold"/>
                <a:sym typeface="Now Bold"/>
              </a:rPr>
              <a:t>INTERNSHIP EXPERIENCE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900462" y="6546824"/>
            <a:ext cx="1632911" cy="32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b="true" sz="991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Infrastructure &amp; Devops</a:t>
            </a:r>
          </a:p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b="true" sz="991">
                <a:solidFill>
                  <a:srgbClr val="545454"/>
                </a:solidFill>
                <a:latin typeface="Aileron Bold"/>
                <a:ea typeface="Aileron Bold"/>
                <a:cs typeface="Aileron Bold"/>
                <a:sym typeface="Aileron Bold"/>
              </a:rPr>
              <a:t>Backend Engineer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00570" y="5428592"/>
            <a:ext cx="1127065" cy="63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Mumbai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Bangalore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Chennai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0956" y="1505194"/>
            <a:ext cx="730250" cy="22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5"/>
              </a:lnSpc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7021022882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860194" y="222275"/>
            <a:ext cx="4157996" cy="62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7"/>
              </a:lnSpc>
            </a:pPr>
            <a:r>
              <a:rPr lang="en-US" b="true" sz="2678">
                <a:solidFill>
                  <a:srgbClr val="545454"/>
                </a:solidFill>
                <a:latin typeface="Now Heavy"/>
                <a:ea typeface="Now Heavy"/>
                <a:cs typeface="Now Heavy"/>
                <a:sym typeface="Now Heavy"/>
              </a:rPr>
              <a:t>ZANE FERNANDES</a:t>
            </a:r>
          </a:p>
          <a:p>
            <a:pPr algn="l">
              <a:lnSpc>
                <a:spcPts val="2406"/>
              </a:lnSpc>
            </a:pPr>
            <a:r>
              <a:rPr lang="en-US" sz="1524">
                <a:solidFill>
                  <a:srgbClr val="545454"/>
                </a:solidFill>
                <a:latin typeface="Now"/>
                <a:ea typeface="Now"/>
                <a:cs typeface="Now"/>
                <a:sym typeface="Now"/>
              </a:rPr>
              <a:t>Applications Engineer Intern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76234" y="3256216"/>
            <a:ext cx="1769888" cy="107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Golang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C++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Docker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Java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Typescript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38689" y="6764200"/>
            <a:ext cx="1026971" cy="41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Gym</a:t>
            </a:r>
          </a:p>
          <a:p>
            <a:pPr algn="l" marL="213987" indent="-106994" lvl="1">
              <a:lnSpc>
                <a:spcPts val="1784"/>
              </a:lnSpc>
              <a:buFont typeface="Arial"/>
              <a:buChar char="•"/>
            </a:pPr>
            <a:r>
              <a:rPr lang="en-US" sz="991">
                <a:solidFill>
                  <a:srgbClr val="1C2120"/>
                </a:solidFill>
                <a:latin typeface="Lato"/>
                <a:ea typeface="Lato"/>
                <a:cs typeface="Lato"/>
                <a:sym typeface="Lato"/>
              </a:rPr>
              <a:t>Jogging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70956" y="1779368"/>
            <a:ext cx="1760855" cy="2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  <a:spcBef>
                <a:spcPct val="0"/>
              </a:spcBef>
            </a:pPr>
            <a:r>
              <a:rPr lang="en-US" sz="98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9" tooltip="mailto:zane.ferns360@gmail.com"/>
              </a:rPr>
              <a:t>Kh</a:t>
            </a:r>
            <a:r>
              <a:rPr lang="en-US" sz="98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hlinkClick r:id="rId10" tooltip="mailto:zane.ferns360@gmail.com"/>
              </a:rPr>
              <a:t>ar (W), Near Bandra, </a:t>
            </a:r>
            <a:r>
              <a:rPr lang="en-US" b="true" sz="98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  <a:hlinkClick r:id="rId11" tooltip="mailto:zane.ferns360@gmail.com"/>
              </a:rPr>
              <a:t>Mumbai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982712" y="2696249"/>
            <a:ext cx="4246045" cy="95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Configured and ran MariaDB databases in Dock</a:t>
            </a: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er, </a:t>
            </a:r>
          </a:p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</a:t>
            </a: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optimizing database performance and ensuring</a:t>
            </a:r>
          </a:p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secure con</a:t>
            </a: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nections between services.</a:t>
            </a:r>
          </a:p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Developed RESTful APIs using Django and integration with third</a:t>
            </a:r>
          </a:p>
          <a:p>
            <a:pPr algn="l">
              <a:lnSpc>
                <a:spcPts val="1508"/>
              </a:lnSpc>
            </a:pPr>
            <a:r>
              <a:rPr lang="en-US" sz="1090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party services.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906718" y="4525760"/>
            <a:ext cx="4443998" cy="809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Lowkey - Sma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rt Battery Daemon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Built a sleek and efficient battery notification daemon for Linux systems,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   written in C++ and built using CMake.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• Provides battery status monitoring, notifications and customizable   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    thresholds while being resource-efficient.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900462" y="5373654"/>
            <a:ext cx="4443998" cy="32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Ac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tive Arch Linux User Repository (AUR) Package Maintainer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   </a:t>
            </a:r>
            <a:r>
              <a:rPr lang="en-US" sz="991" u="sng">
                <a:solidFill>
                  <a:srgbClr val="004AAD"/>
                </a:solidFill>
                <a:latin typeface="Aileron"/>
                <a:ea typeface="Aileron"/>
                <a:cs typeface="Aileron"/>
                <a:sym typeface="Aileron"/>
                <a:hlinkClick r:id="rId12" tooltip="https://aur.archlinux.org/packages?K=ZaneFerns360&amp;SeB=m"/>
              </a:rPr>
              <a:t>AUR Username - ZaneFerns360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900462" y="5786277"/>
            <a:ext cx="4443998" cy="324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13987" indent="-106994" lvl="1">
              <a:lnSpc>
                <a:spcPts val="1338"/>
              </a:lnSpc>
              <a:buFont typeface="Arial"/>
              <a:buChar char="•"/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Mod</a:t>
            </a: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ified Linux Kernel Driver for Acer Predator PH18-71 &amp; Newer Models</a:t>
            </a:r>
          </a:p>
          <a:p>
            <a:pPr algn="l">
              <a:lnSpc>
                <a:spcPts val="1338"/>
              </a:lnSpc>
            </a:pPr>
            <a:r>
              <a:rPr lang="en-US" sz="991">
                <a:solidFill>
                  <a:srgbClr val="545454"/>
                </a:solidFill>
                <a:latin typeface="Aileron"/>
                <a:ea typeface="Aileron"/>
                <a:cs typeface="Aileron"/>
                <a:sym typeface="Aileron"/>
              </a:rPr>
              <a:t>          </a:t>
            </a:r>
            <a:r>
              <a:rPr lang="en-US" sz="991" u="sng">
                <a:solidFill>
                  <a:srgbClr val="004AAD"/>
                </a:solidFill>
                <a:latin typeface="Aileron"/>
                <a:ea typeface="Aileron"/>
                <a:cs typeface="Aileron"/>
                <a:sym typeface="Aileron"/>
                <a:hlinkClick r:id="rId13" tooltip="https://github.com/ZaneFerns360/acer-predator-v4-mode-and-rgb-keyboard-linux-module.git"/>
              </a:rPr>
              <a:t>GitHub Repository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9767" y="2041549"/>
            <a:ext cx="1442879" cy="20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1"/>
              </a:lnSpc>
              <a:spcBef>
                <a:spcPct val="0"/>
              </a:spcBef>
            </a:pPr>
            <a:r>
              <a:rPr lang="en-US" sz="989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  <a:hlinkClick r:id="rId14" tooltip="mailto:zane.ferns360@gmail.com"/>
              </a:rPr>
              <a:t>zane.ferns360@gmail.co</a:t>
            </a:r>
            <a:r>
              <a:rPr lang="en-US" sz="989" u="sng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DAHD61Y6OIE</dc:identifier>
  <dcterms:modified xsi:type="dcterms:W3CDTF">2011-08-01T06:04:30Z</dcterms:modified>
  <cp:revision>1</cp:revision>
  <dc:title>Resume Template Format .pdf</dc:title>
</cp:coreProperties>
</file>